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7" r:id="rId2"/>
    <p:sldId id="258"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547F88-A007-4BF0-8C4A-814E8DEE4563}" v="4" dt="2025-12-02T00:34:57.9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40" autoAdjust="0"/>
    <p:restoredTop sz="62470" autoAdjust="0"/>
  </p:normalViewPr>
  <p:slideViewPr>
    <p:cSldViewPr snapToGrid="0">
      <p:cViewPr varScale="1">
        <p:scale>
          <a:sx n="65" d="100"/>
          <a:sy n="65" d="100"/>
        </p:scale>
        <p:origin x="1980" y="72"/>
      </p:cViewPr>
      <p:guideLst/>
    </p:cSldViewPr>
  </p:slideViewPr>
  <p:notesTextViewPr>
    <p:cViewPr>
      <p:scale>
        <a:sx n="3" d="2"/>
        <a:sy n="3" d="2"/>
      </p:scale>
      <p:origin x="0" y="-5"/>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en Inthisane" userId="319385a6aa8e3cce" providerId="LiveId" clId="{6E064DEB-DFFD-4F4C-8265-3B20839EB5E9}"/>
    <pc:docChg chg="custSel modSld">
      <pc:chgData name="Taylen Inthisane" userId="319385a6aa8e3cce" providerId="LiveId" clId="{6E064DEB-DFFD-4F4C-8265-3B20839EB5E9}" dt="2025-12-02T00:42:45.301" v="952" actId="20577"/>
      <pc:docMkLst>
        <pc:docMk/>
      </pc:docMkLst>
      <pc:sldChg chg="modNotesTx">
        <pc:chgData name="Taylen Inthisane" userId="319385a6aa8e3cce" providerId="LiveId" clId="{6E064DEB-DFFD-4F4C-8265-3B20839EB5E9}" dt="2025-12-02T00:42:45.301" v="952" actId="20577"/>
        <pc:sldMkLst>
          <pc:docMk/>
          <pc:sldMk cId="78691468" sldId="2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62A199-8670-42A9-BF37-208342AFD15F}" type="datetimeFigureOut">
              <a:rPr lang="en-US" smtClean="0"/>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6429EC-3292-4FB4-931E-5F72D09455BC}" type="slidenum">
              <a:rPr lang="en-US" smtClean="0"/>
              <a:t>‹#›</a:t>
            </a:fld>
            <a:endParaRPr lang="en-US"/>
          </a:p>
        </p:txBody>
      </p:sp>
    </p:spTree>
    <p:extLst>
      <p:ext uri="{BB962C8B-B14F-4D97-AF65-F5344CB8AC3E}">
        <p14:creationId xmlns:p14="http://schemas.microsoft.com/office/powerpoint/2010/main" val="1954025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 Improving patient outcomes in the ICU is one of the highest priorities at the regional medical center. </a:t>
            </a:r>
          </a:p>
          <a:p>
            <a:endParaRPr lang="en-US"/>
          </a:p>
          <a:p>
            <a:r>
              <a:rPr lang="en-US" dirty="0"/>
              <a:t>In this presentation, I’ll walk through the insight we uncovered from analyzing ICU patient data and showing how those findings can support more effective, evidence based-decision making for both clinical and administrative leaders.</a:t>
            </a:r>
          </a:p>
          <a:p>
            <a:endParaRPr lang="en-US" dirty="0"/>
          </a:p>
          <a:p>
            <a:r>
              <a:rPr lang="en-US" dirty="0"/>
              <a:t>The </a:t>
            </a:r>
            <a:r>
              <a:rPr lang="en-US" sz="1200" b="0" i="0" u="none" strike="noStrike" kern="1200" dirty="0">
                <a:solidFill>
                  <a:schemeClr val="tx1"/>
                </a:solidFill>
                <a:effectLst/>
                <a:latin typeface="+mn-lt"/>
                <a:ea typeface="+mn-ea"/>
                <a:cs typeface="+mn-cs"/>
              </a:rPr>
              <a:t>Regional Medical Center is working to improve the quality of care in its 36-bed ICU while navigating growing pressure on resources and operational efficiency. Although clinicians rely heavily on their expertise, variation in patient outcomes suggests that deeper patterns exist within the hospital’s electronic health records. This project analyzes ICU patient data to identify the factors that most strongly influence recovery, length of stay, and resource utilization, with the goal of turning complex clinical information into insights that support evidence-based decision-making for both clinical leadership and hospital administration.</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The ICU Medical Director asked our team to determine how patient demographics, clinical characteristics, and care processes shape ICU outcomes—particularly length of stay and mortality. By systematically analyzing electronic health records, our goal was to pinpoint which factors meaningfully impact patient outcomes and to offer recommendations that could improve care delivery and operational efficiency.</a:t>
            </a:r>
            <a:endParaRPr lang="en-US" dirty="0"/>
          </a:p>
        </p:txBody>
      </p:sp>
      <p:sp>
        <p:nvSpPr>
          <p:cNvPr id="4" name="Slide Number Placeholder 3"/>
          <p:cNvSpPr>
            <a:spLocks noGrp="1"/>
          </p:cNvSpPr>
          <p:nvPr>
            <p:ph type="sldNum" sz="quarter" idx="5"/>
          </p:nvPr>
        </p:nvSpPr>
        <p:spPr/>
        <p:txBody>
          <a:bodyPr/>
          <a:lstStyle/>
          <a:p>
            <a:fld id="{C56429EC-3292-4FB4-931E-5F72D09455BC}" type="slidenum">
              <a:rPr lang="en-US" smtClean="0"/>
              <a:t>1</a:t>
            </a:fld>
            <a:endParaRPr lang="en-US"/>
          </a:p>
        </p:txBody>
      </p:sp>
    </p:spTree>
    <p:extLst>
      <p:ext uri="{BB962C8B-B14F-4D97-AF65-F5344CB8AC3E}">
        <p14:creationId xmlns:p14="http://schemas.microsoft.com/office/powerpoint/2010/main" val="3969396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To address this, I used a structured analytical approach that combined data preparation, exploration, and statistical modeling. I consolidated multiple years of ICU electronic medical records—including demographics, diagnoses, prescriptions, and outcomes—into a unified dataset. After conducting exploratory data analysis to identify relevant patterns, I refined the dataset through cleaning, feature engineering, and dimensionality reduction to focus on the most meaningful variables. I then applied hypothesis testing and regression modeling, evaluated at a 95% confidence level, to determine which characteristics reliably predicted length of stay and mortality. Once the significant variables were identified, I translated these findings into actionable insights that could be incorporated into clinical workflows and decision-support tools.</a:t>
            </a:r>
            <a:endParaRPr lang="en-US" dirty="0"/>
          </a:p>
        </p:txBody>
      </p:sp>
      <p:sp>
        <p:nvSpPr>
          <p:cNvPr id="4" name="Slide Number Placeholder 3"/>
          <p:cNvSpPr>
            <a:spLocks noGrp="1"/>
          </p:cNvSpPr>
          <p:nvPr>
            <p:ph type="sldNum" sz="quarter" idx="5"/>
          </p:nvPr>
        </p:nvSpPr>
        <p:spPr/>
        <p:txBody>
          <a:bodyPr/>
          <a:lstStyle/>
          <a:p>
            <a:fld id="{C56429EC-3292-4FB4-931E-5F72D09455BC}" type="slidenum">
              <a:rPr lang="en-US" smtClean="0"/>
              <a:t>2</a:t>
            </a:fld>
            <a:endParaRPr lang="en-US"/>
          </a:p>
        </p:txBody>
      </p:sp>
    </p:spTree>
    <p:extLst>
      <p:ext uri="{BB962C8B-B14F-4D97-AF65-F5344CB8AC3E}">
        <p14:creationId xmlns:p14="http://schemas.microsoft.com/office/powerpoint/2010/main" val="3648592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The analysis showed that </a:t>
            </a:r>
            <a:r>
              <a:rPr lang="en-US" sz="1200" b="1" i="0" u="none" strike="noStrike" kern="1200" dirty="0">
                <a:solidFill>
                  <a:schemeClr val="tx1"/>
                </a:solidFill>
                <a:effectLst/>
                <a:latin typeface="+mn-lt"/>
                <a:ea typeface="+mn-ea"/>
                <a:cs typeface="+mn-cs"/>
              </a:rPr>
              <a:t>two factors had statistically significant effects on outcomes</a:t>
            </a:r>
            <a:r>
              <a:rPr lang="en-US" sz="1200" b="0" i="0" u="none" strike="noStrike" kern="1200" dirty="0">
                <a:solidFill>
                  <a:schemeClr val="tx1"/>
                </a:solidFill>
                <a:effectLst/>
                <a:latin typeface="+mn-lt"/>
                <a:ea typeface="+mn-ea"/>
                <a:cs typeface="+mn-cs"/>
              </a:rPr>
              <a:t>: the </a:t>
            </a:r>
            <a:r>
              <a:rPr lang="en-US" sz="1200" b="1" i="0" u="none" strike="noStrike" kern="1200" dirty="0">
                <a:solidFill>
                  <a:schemeClr val="tx1"/>
                </a:solidFill>
                <a:effectLst/>
                <a:latin typeface="+mn-lt"/>
                <a:ea typeface="+mn-ea"/>
                <a:cs typeface="+mn-cs"/>
              </a:rPr>
              <a:t>number of prescriptions</a:t>
            </a:r>
            <a:r>
              <a:rPr lang="en-US" sz="1200" b="0" i="0" u="none" strike="noStrike" kern="1200" dirty="0">
                <a:solidFill>
                  <a:schemeClr val="tx1"/>
                </a:solidFill>
                <a:effectLst/>
                <a:latin typeface="+mn-lt"/>
                <a:ea typeface="+mn-ea"/>
                <a:cs typeface="+mn-cs"/>
              </a:rPr>
              <a:t> a patient receives and </a:t>
            </a:r>
            <a:r>
              <a:rPr lang="en-US" sz="1200" b="1" i="0" u="none" strike="noStrike" kern="1200" dirty="0">
                <a:solidFill>
                  <a:schemeClr val="tx1"/>
                </a:solidFill>
                <a:effectLst/>
                <a:latin typeface="+mn-lt"/>
                <a:ea typeface="+mn-ea"/>
                <a:cs typeface="+mn-cs"/>
              </a:rPr>
              <a:t>patient age</a:t>
            </a:r>
            <a:r>
              <a:rPr lang="en-US" sz="1200" b="0" i="0" u="none" strike="noStrike" kern="1200" dirty="0">
                <a:solidFill>
                  <a:schemeClr val="tx1"/>
                </a:solidFill>
                <a:effectLst/>
                <a:latin typeface="+mn-lt"/>
                <a:ea typeface="+mn-ea"/>
                <a:cs typeface="+mn-cs"/>
              </a:rPr>
              <a:t>. Medication count was strongly associated with both length of stay and mortality, and age was a significant predictor of mortality risk. Other variables, including number of diagnoses, did not show meaningful predictive value. Overall, medication complexity and age-related vulnerability emerged as the most reliable indicators of patient outcomes.</a:t>
            </a:r>
            <a:endParaRPr lang="en-US" b="0" dirty="0">
              <a:effectLst/>
            </a:endParaRPr>
          </a:p>
          <a:p>
            <a:pPr rtl="0"/>
            <a:r>
              <a:rPr lang="en-US" sz="1200" b="0" i="0" u="none" strike="noStrike" kern="1200" dirty="0">
                <a:solidFill>
                  <a:schemeClr val="tx1"/>
                </a:solidFill>
                <a:effectLst/>
                <a:latin typeface="+mn-lt"/>
                <a:ea typeface="+mn-ea"/>
                <a:cs typeface="+mn-cs"/>
              </a:rPr>
              <a:t>Based on these findings, I recommend two interventions. First, implementing </a:t>
            </a:r>
            <a:r>
              <a:rPr lang="en-US" sz="1200" b="1" i="0" u="none" strike="noStrike" kern="1200" dirty="0">
                <a:solidFill>
                  <a:schemeClr val="tx1"/>
                </a:solidFill>
                <a:effectLst/>
                <a:latin typeface="+mn-lt"/>
                <a:ea typeface="+mn-ea"/>
                <a:cs typeface="+mn-cs"/>
              </a:rPr>
              <a:t>age-based mortality risk wristbands</a:t>
            </a:r>
            <a:r>
              <a:rPr lang="en-US" sz="1200" b="0" i="0" u="none" strike="noStrike" kern="1200" dirty="0">
                <a:solidFill>
                  <a:schemeClr val="tx1"/>
                </a:solidFill>
                <a:effectLst/>
                <a:latin typeface="+mn-lt"/>
                <a:ea typeface="+mn-ea"/>
                <a:cs typeface="+mn-cs"/>
              </a:rPr>
              <a:t> to help staff quickly identify higher-risk patients and prioritize monitoring. Second, developing a </a:t>
            </a:r>
            <a:r>
              <a:rPr lang="en-US" sz="1200" b="1" i="0" u="none" strike="noStrike" kern="1200" dirty="0">
                <a:solidFill>
                  <a:schemeClr val="tx1"/>
                </a:solidFill>
                <a:effectLst/>
                <a:latin typeface="+mn-lt"/>
                <a:ea typeface="+mn-ea"/>
                <a:cs typeface="+mn-cs"/>
              </a:rPr>
              <a:t>medication review and recommendation system</a:t>
            </a:r>
            <a:r>
              <a:rPr lang="en-US" sz="1200" b="0" i="0" u="none" strike="noStrike" kern="1200" dirty="0">
                <a:solidFill>
                  <a:schemeClr val="tx1"/>
                </a:solidFill>
                <a:effectLst/>
                <a:latin typeface="+mn-lt"/>
                <a:ea typeface="+mn-ea"/>
                <a:cs typeface="+mn-cs"/>
              </a:rPr>
              <a:t> that combines pharmacist oversight with automated checks to reduce unnecessary medication complexity and flag unsafe combinations.</a:t>
            </a:r>
            <a:endParaRPr lang="en-US" b="0" dirty="0">
              <a:effectLst/>
            </a:endParaRPr>
          </a:p>
          <a:p>
            <a:pPr rtl="0"/>
            <a:r>
              <a:rPr lang="en-US" sz="1200" b="0" i="0" u="none" strike="noStrike" kern="1200" dirty="0">
                <a:solidFill>
                  <a:schemeClr val="tx1"/>
                </a:solidFill>
                <a:effectLst/>
                <a:latin typeface="+mn-lt"/>
                <a:ea typeface="+mn-ea"/>
                <a:cs typeface="+mn-cs"/>
              </a:rPr>
              <a:t>Together, these steps can meaningfully reduce complications, shorten length of stay, and improve overall ICU care quality.</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fld id="{C56429EC-3292-4FB4-931E-5F72D09455BC}" type="slidenum">
              <a:rPr lang="en-US" smtClean="0"/>
              <a:t>3</a:t>
            </a:fld>
            <a:endParaRPr lang="en-US"/>
          </a:p>
        </p:txBody>
      </p:sp>
    </p:spTree>
    <p:extLst>
      <p:ext uri="{BB962C8B-B14F-4D97-AF65-F5344CB8AC3E}">
        <p14:creationId xmlns:p14="http://schemas.microsoft.com/office/powerpoint/2010/main" val="150039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E1577-99D5-5FB4-2FC7-12F2DF38BE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984E6F-EFE5-14C6-80AF-95EF87D18A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8A37C2E-312D-65A9-F982-034F8121BA29}"/>
              </a:ext>
            </a:extLst>
          </p:cNvPr>
          <p:cNvSpPr>
            <a:spLocks noGrp="1"/>
          </p:cNvSpPr>
          <p:nvPr>
            <p:ph type="dt" sz="half" idx="10"/>
          </p:nvPr>
        </p:nvSpPr>
        <p:spPr/>
        <p:txBody>
          <a:bodyPr/>
          <a:lstStyle/>
          <a:p>
            <a:fld id="{5ED47AA9-3C25-4999-B957-127A2A6B71E8}" type="datetimeFigureOut">
              <a:rPr lang="en-US" smtClean="0"/>
              <a:t>12/1/2025</a:t>
            </a:fld>
            <a:endParaRPr lang="en-US"/>
          </a:p>
        </p:txBody>
      </p:sp>
      <p:sp>
        <p:nvSpPr>
          <p:cNvPr id="5" name="Footer Placeholder 4">
            <a:extLst>
              <a:ext uri="{FF2B5EF4-FFF2-40B4-BE49-F238E27FC236}">
                <a16:creationId xmlns:a16="http://schemas.microsoft.com/office/drawing/2014/main" id="{9CA7F231-3874-1C92-4CAD-9BAEF67C82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29441B-C379-FE1B-6B29-B59549B12EE7}"/>
              </a:ext>
            </a:extLst>
          </p:cNvPr>
          <p:cNvSpPr>
            <a:spLocks noGrp="1"/>
          </p:cNvSpPr>
          <p:nvPr>
            <p:ph type="sldNum" sz="quarter" idx="12"/>
          </p:nvPr>
        </p:nvSpPr>
        <p:spPr/>
        <p:txBody>
          <a:bodyPr/>
          <a:lstStyle/>
          <a:p>
            <a:fld id="{7F360023-DAC8-4F87-81EC-CE1F790DDD64}" type="slidenum">
              <a:rPr lang="en-US" smtClean="0"/>
              <a:t>‹#›</a:t>
            </a:fld>
            <a:endParaRPr lang="en-US"/>
          </a:p>
        </p:txBody>
      </p:sp>
    </p:spTree>
    <p:extLst>
      <p:ext uri="{BB962C8B-B14F-4D97-AF65-F5344CB8AC3E}">
        <p14:creationId xmlns:p14="http://schemas.microsoft.com/office/powerpoint/2010/main" val="1337554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4AE2A-09DD-C806-E36E-097B214FBA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D5E004-1334-183F-5877-EFB6F8C3F8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A4226B-DB3F-0C33-4208-12860E067E07}"/>
              </a:ext>
            </a:extLst>
          </p:cNvPr>
          <p:cNvSpPr>
            <a:spLocks noGrp="1"/>
          </p:cNvSpPr>
          <p:nvPr>
            <p:ph type="dt" sz="half" idx="10"/>
          </p:nvPr>
        </p:nvSpPr>
        <p:spPr/>
        <p:txBody>
          <a:bodyPr/>
          <a:lstStyle/>
          <a:p>
            <a:fld id="{5ED47AA9-3C25-4999-B957-127A2A6B71E8}" type="datetimeFigureOut">
              <a:rPr lang="en-US" smtClean="0"/>
              <a:t>12/1/2025</a:t>
            </a:fld>
            <a:endParaRPr lang="en-US"/>
          </a:p>
        </p:txBody>
      </p:sp>
      <p:sp>
        <p:nvSpPr>
          <p:cNvPr id="5" name="Footer Placeholder 4">
            <a:extLst>
              <a:ext uri="{FF2B5EF4-FFF2-40B4-BE49-F238E27FC236}">
                <a16:creationId xmlns:a16="http://schemas.microsoft.com/office/drawing/2014/main" id="{F5733D89-E20F-8E98-7C65-0C99AF40A2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B14FBF-F0F4-0614-4ABB-4A2E864A9EE0}"/>
              </a:ext>
            </a:extLst>
          </p:cNvPr>
          <p:cNvSpPr>
            <a:spLocks noGrp="1"/>
          </p:cNvSpPr>
          <p:nvPr>
            <p:ph type="sldNum" sz="quarter" idx="12"/>
          </p:nvPr>
        </p:nvSpPr>
        <p:spPr/>
        <p:txBody>
          <a:bodyPr/>
          <a:lstStyle/>
          <a:p>
            <a:fld id="{7F360023-DAC8-4F87-81EC-CE1F790DDD64}" type="slidenum">
              <a:rPr lang="en-US" smtClean="0"/>
              <a:t>‹#›</a:t>
            </a:fld>
            <a:endParaRPr lang="en-US"/>
          </a:p>
        </p:txBody>
      </p:sp>
    </p:spTree>
    <p:extLst>
      <p:ext uri="{BB962C8B-B14F-4D97-AF65-F5344CB8AC3E}">
        <p14:creationId xmlns:p14="http://schemas.microsoft.com/office/powerpoint/2010/main" val="2676359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B0441-549C-CDF0-9E9A-3E477E52C7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CAF43B-28CB-2B6F-4DDC-A8416B8D9F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B9F37E-0CC5-D998-6520-954F8EBF9DCD}"/>
              </a:ext>
            </a:extLst>
          </p:cNvPr>
          <p:cNvSpPr>
            <a:spLocks noGrp="1"/>
          </p:cNvSpPr>
          <p:nvPr>
            <p:ph type="dt" sz="half" idx="10"/>
          </p:nvPr>
        </p:nvSpPr>
        <p:spPr/>
        <p:txBody>
          <a:bodyPr/>
          <a:lstStyle/>
          <a:p>
            <a:fld id="{5ED47AA9-3C25-4999-B957-127A2A6B71E8}" type="datetimeFigureOut">
              <a:rPr lang="en-US" smtClean="0"/>
              <a:t>12/1/2025</a:t>
            </a:fld>
            <a:endParaRPr lang="en-US"/>
          </a:p>
        </p:txBody>
      </p:sp>
      <p:sp>
        <p:nvSpPr>
          <p:cNvPr id="5" name="Footer Placeholder 4">
            <a:extLst>
              <a:ext uri="{FF2B5EF4-FFF2-40B4-BE49-F238E27FC236}">
                <a16:creationId xmlns:a16="http://schemas.microsoft.com/office/drawing/2014/main" id="{B98B7FF7-1CCE-A371-D210-EB275628D4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07E2E3-9C95-5A3A-A945-02B8CB6FFC90}"/>
              </a:ext>
            </a:extLst>
          </p:cNvPr>
          <p:cNvSpPr>
            <a:spLocks noGrp="1"/>
          </p:cNvSpPr>
          <p:nvPr>
            <p:ph type="sldNum" sz="quarter" idx="12"/>
          </p:nvPr>
        </p:nvSpPr>
        <p:spPr/>
        <p:txBody>
          <a:bodyPr/>
          <a:lstStyle/>
          <a:p>
            <a:fld id="{7F360023-DAC8-4F87-81EC-CE1F790DDD64}" type="slidenum">
              <a:rPr lang="en-US" smtClean="0"/>
              <a:t>‹#›</a:t>
            </a:fld>
            <a:endParaRPr lang="en-US"/>
          </a:p>
        </p:txBody>
      </p:sp>
    </p:spTree>
    <p:extLst>
      <p:ext uri="{BB962C8B-B14F-4D97-AF65-F5344CB8AC3E}">
        <p14:creationId xmlns:p14="http://schemas.microsoft.com/office/powerpoint/2010/main" val="1041160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8DF9F-01E9-90B4-5D09-FA96F79D40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01F5F7-624F-C3AB-E311-69898FA4DC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BC5485-DDFB-0CF8-3ED7-94DCA845E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19666B-AD1A-9DED-238F-F4D619121445}"/>
              </a:ext>
            </a:extLst>
          </p:cNvPr>
          <p:cNvSpPr>
            <a:spLocks noGrp="1"/>
          </p:cNvSpPr>
          <p:nvPr>
            <p:ph type="dt" sz="half" idx="10"/>
          </p:nvPr>
        </p:nvSpPr>
        <p:spPr/>
        <p:txBody>
          <a:bodyPr/>
          <a:lstStyle/>
          <a:p>
            <a:fld id="{5ED47AA9-3C25-4999-B957-127A2A6B71E8}" type="datetimeFigureOut">
              <a:rPr lang="en-US" smtClean="0"/>
              <a:t>12/1/2025</a:t>
            </a:fld>
            <a:endParaRPr lang="en-US"/>
          </a:p>
        </p:txBody>
      </p:sp>
      <p:sp>
        <p:nvSpPr>
          <p:cNvPr id="6" name="Footer Placeholder 5">
            <a:extLst>
              <a:ext uri="{FF2B5EF4-FFF2-40B4-BE49-F238E27FC236}">
                <a16:creationId xmlns:a16="http://schemas.microsoft.com/office/drawing/2014/main" id="{F694BCB0-8E39-C500-E9EB-58BA8AFFEF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3AFA4A-17D4-10B3-B812-5CCC01EE7A3A}"/>
              </a:ext>
            </a:extLst>
          </p:cNvPr>
          <p:cNvSpPr>
            <a:spLocks noGrp="1"/>
          </p:cNvSpPr>
          <p:nvPr>
            <p:ph type="sldNum" sz="quarter" idx="12"/>
          </p:nvPr>
        </p:nvSpPr>
        <p:spPr/>
        <p:txBody>
          <a:bodyPr/>
          <a:lstStyle/>
          <a:p>
            <a:fld id="{7F360023-DAC8-4F87-81EC-CE1F790DDD64}" type="slidenum">
              <a:rPr lang="en-US" smtClean="0"/>
              <a:t>‹#›</a:t>
            </a:fld>
            <a:endParaRPr lang="en-US"/>
          </a:p>
        </p:txBody>
      </p:sp>
    </p:spTree>
    <p:extLst>
      <p:ext uri="{BB962C8B-B14F-4D97-AF65-F5344CB8AC3E}">
        <p14:creationId xmlns:p14="http://schemas.microsoft.com/office/powerpoint/2010/main" val="2389418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F18E1-F733-B3DF-5C60-2D4F5CC8C4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F7B831-44B1-6F3E-9B91-4EFA88F97C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EC031C-D341-579D-1F68-1CC7E1D1A3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402422C-993C-DF90-C4C6-4C25A41A5E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B89293-6D6F-1FA6-70C6-036F90809A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DB981E-1474-A077-FB09-E1242E34BB79}"/>
              </a:ext>
            </a:extLst>
          </p:cNvPr>
          <p:cNvSpPr>
            <a:spLocks noGrp="1"/>
          </p:cNvSpPr>
          <p:nvPr>
            <p:ph type="dt" sz="half" idx="10"/>
          </p:nvPr>
        </p:nvSpPr>
        <p:spPr/>
        <p:txBody>
          <a:bodyPr/>
          <a:lstStyle/>
          <a:p>
            <a:fld id="{5ED47AA9-3C25-4999-B957-127A2A6B71E8}" type="datetimeFigureOut">
              <a:rPr lang="en-US" smtClean="0"/>
              <a:t>12/1/2025</a:t>
            </a:fld>
            <a:endParaRPr lang="en-US"/>
          </a:p>
        </p:txBody>
      </p:sp>
      <p:sp>
        <p:nvSpPr>
          <p:cNvPr id="8" name="Footer Placeholder 7">
            <a:extLst>
              <a:ext uri="{FF2B5EF4-FFF2-40B4-BE49-F238E27FC236}">
                <a16:creationId xmlns:a16="http://schemas.microsoft.com/office/drawing/2014/main" id="{26E2CEEB-23CE-18C4-081E-EC86021FCF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7A27AC-A833-3031-CD78-C446B1A1D066}"/>
              </a:ext>
            </a:extLst>
          </p:cNvPr>
          <p:cNvSpPr>
            <a:spLocks noGrp="1"/>
          </p:cNvSpPr>
          <p:nvPr>
            <p:ph type="sldNum" sz="quarter" idx="12"/>
          </p:nvPr>
        </p:nvSpPr>
        <p:spPr/>
        <p:txBody>
          <a:bodyPr/>
          <a:lstStyle/>
          <a:p>
            <a:fld id="{7F360023-DAC8-4F87-81EC-CE1F790DDD64}" type="slidenum">
              <a:rPr lang="en-US" smtClean="0"/>
              <a:t>‹#›</a:t>
            </a:fld>
            <a:endParaRPr lang="en-US"/>
          </a:p>
        </p:txBody>
      </p:sp>
    </p:spTree>
    <p:extLst>
      <p:ext uri="{BB962C8B-B14F-4D97-AF65-F5344CB8AC3E}">
        <p14:creationId xmlns:p14="http://schemas.microsoft.com/office/powerpoint/2010/main" val="3137908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B7B86-EE95-9918-626C-46B8AEDA4A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BF45EA-7834-F41E-0BC4-8D53E94483A4}"/>
              </a:ext>
            </a:extLst>
          </p:cNvPr>
          <p:cNvSpPr>
            <a:spLocks noGrp="1"/>
          </p:cNvSpPr>
          <p:nvPr>
            <p:ph type="dt" sz="half" idx="10"/>
          </p:nvPr>
        </p:nvSpPr>
        <p:spPr/>
        <p:txBody>
          <a:bodyPr/>
          <a:lstStyle/>
          <a:p>
            <a:fld id="{5ED47AA9-3C25-4999-B957-127A2A6B71E8}" type="datetimeFigureOut">
              <a:rPr lang="en-US" smtClean="0"/>
              <a:t>12/1/2025</a:t>
            </a:fld>
            <a:endParaRPr lang="en-US"/>
          </a:p>
        </p:txBody>
      </p:sp>
      <p:sp>
        <p:nvSpPr>
          <p:cNvPr id="4" name="Footer Placeholder 3">
            <a:extLst>
              <a:ext uri="{FF2B5EF4-FFF2-40B4-BE49-F238E27FC236}">
                <a16:creationId xmlns:a16="http://schemas.microsoft.com/office/drawing/2014/main" id="{491626B8-B5E7-B439-AC0C-7120DDEFB2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ACC465-FEC5-B9F9-24FB-5BD63B02EDAF}"/>
              </a:ext>
            </a:extLst>
          </p:cNvPr>
          <p:cNvSpPr>
            <a:spLocks noGrp="1"/>
          </p:cNvSpPr>
          <p:nvPr>
            <p:ph type="sldNum" sz="quarter" idx="12"/>
          </p:nvPr>
        </p:nvSpPr>
        <p:spPr/>
        <p:txBody>
          <a:bodyPr/>
          <a:lstStyle/>
          <a:p>
            <a:fld id="{7F360023-DAC8-4F87-81EC-CE1F790DDD64}" type="slidenum">
              <a:rPr lang="en-US" smtClean="0"/>
              <a:t>‹#›</a:t>
            </a:fld>
            <a:endParaRPr lang="en-US"/>
          </a:p>
        </p:txBody>
      </p:sp>
    </p:spTree>
    <p:extLst>
      <p:ext uri="{BB962C8B-B14F-4D97-AF65-F5344CB8AC3E}">
        <p14:creationId xmlns:p14="http://schemas.microsoft.com/office/powerpoint/2010/main" val="3375940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208253-92A1-74BB-786C-FE3CCC3A8EF2}"/>
              </a:ext>
            </a:extLst>
          </p:cNvPr>
          <p:cNvSpPr>
            <a:spLocks noGrp="1"/>
          </p:cNvSpPr>
          <p:nvPr>
            <p:ph type="dt" sz="half" idx="10"/>
          </p:nvPr>
        </p:nvSpPr>
        <p:spPr/>
        <p:txBody>
          <a:bodyPr/>
          <a:lstStyle/>
          <a:p>
            <a:fld id="{5ED47AA9-3C25-4999-B957-127A2A6B71E8}" type="datetimeFigureOut">
              <a:rPr lang="en-US" smtClean="0"/>
              <a:t>12/1/2025</a:t>
            </a:fld>
            <a:endParaRPr lang="en-US"/>
          </a:p>
        </p:txBody>
      </p:sp>
      <p:sp>
        <p:nvSpPr>
          <p:cNvPr id="3" name="Footer Placeholder 2">
            <a:extLst>
              <a:ext uri="{FF2B5EF4-FFF2-40B4-BE49-F238E27FC236}">
                <a16:creationId xmlns:a16="http://schemas.microsoft.com/office/drawing/2014/main" id="{5218196B-8CB3-9C75-0DC0-9ED3912B6A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8E56C5-2955-E5A8-CC22-7B47EB07C77D}"/>
              </a:ext>
            </a:extLst>
          </p:cNvPr>
          <p:cNvSpPr>
            <a:spLocks noGrp="1"/>
          </p:cNvSpPr>
          <p:nvPr>
            <p:ph type="sldNum" sz="quarter" idx="12"/>
          </p:nvPr>
        </p:nvSpPr>
        <p:spPr/>
        <p:txBody>
          <a:bodyPr/>
          <a:lstStyle/>
          <a:p>
            <a:fld id="{7F360023-DAC8-4F87-81EC-CE1F790DDD64}" type="slidenum">
              <a:rPr lang="en-US" smtClean="0"/>
              <a:t>‹#›</a:t>
            </a:fld>
            <a:endParaRPr lang="en-US"/>
          </a:p>
        </p:txBody>
      </p:sp>
    </p:spTree>
    <p:extLst>
      <p:ext uri="{BB962C8B-B14F-4D97-AF65-F5344CB8AC3E}">
        <p14:creationId xmlns:p14="http://schemas.microsoft.com/office/powerpoint/2010/main" val="3205504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C4F59-C674-9513-50D9-554A89D9AB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FBA592F-8C9A-8CC3-E89A-E96E4E181F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C0FC37-1D35-957A-D712-54E677770E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6EDDD9-02BA-01D3-5A00-D1D9E897455F}"/>
              </a:ext>
            </a:extLst>
          </p:cNvPr>
          <p:cNvSpPr>
            <a:spLocks noGrp="1"/>
          </p:cNvSpPr>
          <p:nvPr>
            <p:ph type="dt" sz="half" idx="10"/>
          </p:nvPr>
        </p:nvSpPr>
        <p:spPr/>
        <p:txBody>
          <a:bodyPr/>
          <a:lstStyle/>
          <a:p>
            <a:fld id="{5ED47AA9-3C25-4999-B957-127A2A6B71E8}" type="datetimeFigureOut">
              <a:rPr lang="en-US" smtClean="0"/>
              <a:t>12/1/2025</a:t>
            </a:fld>
            <a:endParaRPr lang="en-US"/>
          </a:p>
        </p:txBody>
      </p:sp>
      <p:sp>
        <p:nvSpPr>
          <p:cNvPr id="6" name="Footer Placeholder 5">
            <a:extLst>
              <a:ext uri="{FF2B5EF4-FFF2-40B4-BE49-F238E27FC236}">
                <a16:creationId xmlns:a16="http://schemas.microsoft.com/office/drawing/2014/main" id="{7D91BF09-FAA9-3431-4396-AEC0A89090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E89C59-D74D-7235-6B3B-EBA4A1E1D8FC}"/>
              </a:ext>
            </a:extLst>
          </p:cNvPr>
          <p:cNvSpPr>
            <a:spLocks noGrp="1"/>
          </p:cNvSpPr>
          <p:nvPr>
            <p:ph type="sldNum" sz="quarter" idx="12"/>
          </p:nvPr>
        </p:nvSpPr>
        <p:spPr/>
        <p:txBody>
          <a:bodyPr/>
          <a:lstStyle/>
          <a:p>
            <a:fld id="{7F360023-DAC8-4F87-81EC-CE1F790DDD64}" type="slidenum">
              <a:rPr lang="en-US" smtClean="0"/>
              <a:t>‹#›</a:t>
            </a:fld>
            <a:endParaRPr lang="en-US"/>
          </a:p>
        </p:txBody>
      </p:sp>
    </p:spTree>
    <p:extLst>
      <p:ext uri="{BB962C8B-B14F-4D97-AF65-F5344CB8AC3E}">
        <p14:creationId xmlns:p14="http://schemas.microsoft.com/office/powerpoint/2010/main" val="1947627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6198E-D99D-BAD4-1122-514FDD0D5D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4CE4B5-73D0-F48C-86DF-D246E4DAF8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B8FF46-2085-3992-98C4-733EC92F9E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8BDF5C-1201-8AEE-9E94-6A07A8C38C13}"/>
              </a:ext>
            </a:extLst>
          </p:cNvPr>
          <p:cNvSpPr>
            <a:spLocks noGrp="1"/>
          </p:cNvSpPr>
          <p:nvPr>
            <p:ph type="dt" sz="half" idx="10"/>
          </p:nvPr>
        </p:nvSpPr>
        <p:spPr/>
        <p:txBody>
          <a:bodyPr/>
          <a:lstStyle/>
          <a:p>
            <a:fld id="{5ED47AA9-3C25-4999-B957-127A2A6B71E8}" type="datetimeFigureOut">
              <a:rPr lang="en-US" smtClean="0"/>
              <a:t>12/1/2025</a:t>
            </a:fld>
            <a:endParaRPr lang="en-US"/>
          </a:p>
        </p:txBody>
      </p:sp>
      <p:sp>
        <p:nvSpPr>
          <p:cNvPr id="6" name="Footer Placeholder 5">
            <a:extLst>
              <a:ext uri="{FF2B5EF4-FFF2-40B4-BE49-F238E27FC236}">
                <a16:creationId xmlns:a16="http://schemas.microsoft.com/office/drawing/2014/main" id="{F9326B83-BCEE-3BDC-F36B-C103CA6933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1964AC-A516-7965-2FDD-9D772BD5C42B}"/>
              </a:ext>
            </a:extLst>
          </p:cNvPr>
          <p:cNvSpPr>
            <a:spLocks noGrp="1"/>
          </p:cNvSpPr>
          <p:nvPr>
            <p:ph type="sldNum" sz="quarter" idx="12"/>
          </p:nvPr>
        </p:nvSpPr>
        <p:spPr/>
        <p:txBody>
          <a:bodyPr/>
          <a:lstStyle/>
          <a:p>
            <a:fld id="{7F360023-DAC8-4F87-81EC-CE1F790DDD64}" type="slidenum">
              <a:rPr lang="en-US" smtClean="0"/>
              <a:t>‹#›</a:t>
            </a:fld>
            <a:endParaRPr lang="en-US"/>
          </a:p>
        </p:txBody>
      </p:sp>
    </p:spTree>
    <p:extLst>
      <p:ext uri="{BB962C8B-B14F-4D97-AF65-F5344CB8AC3E}">
        <p14:creationId xmlns:p14="http://schemas.microsoft.com/office/powerpoint/2010/main" val="715047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D32FB-6EF5-6F3A-A3BF-18EA4A0DBC9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21E8249-CB80-B73E-CE91-345FBF259D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05386A-E4DC-C7F3-1807-8C0E08971E11}"/>
              </a:ext>
            </a:extLst>
          </p:cNvPr>
          <p:cNvSpPr>
            <a:spLocks noGrp="1"/>
          </p:cNvSpPr>
          <p:nvPr>
            <p:ph type="dt" sz="half" idx="10"/>
          </p:nvPr>
        </p:nvSpPr>
        <p:spPr/>
        <p:txBody>
          <a:bodyPr/>
          <a:lstStyle/>
          <a:p>
            <a:fld id="{5ED47AA9-3C25-4999-B957-127A2A6B71E8}" type="datetimeFigureOut">
              <a:rPr lang="en-US" smtClean="0"/>
              <a:t>12/1/2025</a:t>
            </a:fld>
            <a:endParaRPr lang="en-US"/>
          </a:p>
        </p:txBody>
      </p:sp>
      <p:sp>
        <p:nvSpPr>
          <p:cNvPr id="5" name="Footer Placeholder 4">
            <a:extLst>
              <a:ext uri="{FF2B5EF4-FFF2-40B4-BE49-F238E27FC236}">
                <a16:creationId xmlns:a16="http://schemas.microsoft.com/office/drawing/2014/main" id="{2E6AF9F2-A334-8491-1217-6EF2303C0E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E50508-F2CC-8D23-AEFC-368CDB761A25}"/>
              </a:ext>
            </a:extLst>
          </p:cNvPr>
          <p:cNvSpPr>
            <a:spLocks noGrp="1"/>
          </p:cNvSpPr>
          <p:nvPr>
            <p:ph type="sldNum" sz="quarter" idx="12"/>
          </p:nvPr>
        </p:nvSpPr>
        <p:spPr/>
        <p:txBody>
          <a:bodyPr/>
          <a:lstStyle/>
          <a:p>
            <a:fld id="{7F360023-DAC8-4F87-81EC-CE1F790DDD64}" type="slidenum">
              <a:rPr lang="en-US" smtClean="0"/>
              <a:t>‹#›</a:t>
            </a:fld>
            <a:endParaRPr lang="en-US"/>
          </a:p>
        </p:txBody>
      </p:sp>
    </p:spTree>
    <p:extLst>
      <p:ext uri="{BB962C8B-B14F-4D97-AF65-F5344CB8AC3E}">
        <p14:creationId xmlns:p14="http://schemas.microsoft.com/office/powerpoint/2010/main" val="2426976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77BEEE-3BEE-C27E-2479-95410BF41B7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46AA8B-85B2-626C-463C-239F8AAAF0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EDFD04-489E-E514-D454-25DEBD464FA0}"/>
              </a:ext>
            </a:extLst>
          </p:cNvPr>
          <p:cNvSpPr>
            <a:spLocks noGrp="1"/>
          </p:cNvSpPr>
          <p:nvPr>
            <p:ph type="dt" sz="half" idx="10"/>
          </p:nvPr>
        </p:nvSpPr>
        <p:spPr/>
        <p:txBody>
          <a:bodyPr/>
          <a:lstStyle/>
          <a:p>
            <a:fld id="{5ED47AA9-3C25-4999-B957-127A2A6B71E8}" type="datetimeFigureOut">
              <a:rPr lang="en-US" smtClean="0"/>
              <a:t>12/1/2025</a:t>
            </a:fld>
            <a:endParaRPr lang="en-US"/>
          </a:p>
        </p:txBody>
      </p:sp>
      <p:sp>
        <p:nvSpPr>
          <p:cNvPr id="5" name="Footer Placeholder 4">
            <a:extLst>
              <a:ext uri="{FF2B5EF4-FFF2-40B4-BE49-F238E27FC236}">
                <a16:creationId xmlns:a16="http://schemas.microsoft.com/office/drawing/2014/main" id="{69FC68F0-B4EC-E506-50EE-FE352150DE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4CBE9A-3007-A011-4299-62A5484C6331}"/>
              </a:ext>
            </a:extLst>
          </p:cNvPr>
          <p:cNvSpPr>
            <a:spLocks noGrp="1"/>
          </p:cNvSpPr>
          <p:nvPr>
            <p:ph type="sldNum" sz="quarter" idx="12"/>
          </p:nvPr>
        </p:nvSpPr>
        <p:spPr/>
        <p:txBody>
          <a:bodyPr/>
          <a:lstStyle/>
          <a:p>
            <a:fld id="{7F360023-DAC8-4F87-81EC-CE1F790DDD64}" type="slidenum">
              <a:rPr lang="en-US" smtClean="0"/>
              <a:t>‹#›</a:t>
            </a:fld>
            <a:endParaRPr lang="en-US"/>
          </a:p>
        </p:txBody>
      </p:sp>
    </p:spTree>
    <p:extLst>
      <p:ext uri="{BB962C8B-B14F-4D97-AF65-F5344CB8AC3E}">
        <p14:creationId xmlns:p14="http://schemas.microsoft.com/office/powerpoint/2010/main" val="4121905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BBE56E-E250-C55F-495F-3F4D1A251F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0A546F-C5EE-9D5A-9A49-5067D5B542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315219-B4AC-DFEC-AC3F-1D3BF50894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D47AA9-3C25-4999-B957-127A2A6B71E8}" type="datetimeFigureOut">
              <a:rPr lang="en-US" smtClean="0"/>
              <a:t>12/1/2025</a:t>
            </a:fld>
            <a:endParaRPr lang="en-US"/>
          </a:p>
        </p:txBody>
      </p:sp>
      <p:sp>
        <p:nvSpPr>
          <p:cNvPr id="5" name="Footer Placeholder 4">
            <a:extLst>
              <a:ext uri="{FF2B5EF4-FFF2-40B4-BE49-F238E27FC236}">
                <a16:creationId xmlns:a16="http://schemas.microsoft.com/office/drawing/2014/main" id="{5EDF623A-35C4-FE3E-F6B5-825B84B5EA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51B6A75-44D2-98EE-92FC-6C5E78BCD9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F360023-DAC8-4F87-81EC-CE1F790DDD64}" type="slidenum">
              <a:rPr lang="en-US" smtClean="0"/>
              <a:t>‹#›</a:t>
            </a:fld>
            <a:endParaRPr lang="en-US"/>
          </a:p>
        </p:txBody>
      </p:sp>
    </p:spTree>
    <p:extLst>
      <p:ext uri="{BB962C8B-B14F-4D97-AF65-F5344CB8AC3E}">
        <p14:creationId xmlns:p14="http://schemas.microsoft.com/office/powerpoint/2010/main" val="13141785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6ECA6DCB-B7E1-40A9-9524-540C6DA40B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DF60FF-6BF1-8E02-3923-43282D627918}"/>
              </a:ext>
            </a:extLst>
          </p:cNvPr>
          <p:cNvSpPr>
            <a:spLocks noGrp="1"/>
          </p:cNvSpPr>
          <p:nvPr>
            <p:ph type="title"/>
          </p:nvPr>
        </p:nvSpPr>
        <p:spPr>
          <a:xfrm>
            <a:off x="589560" y="856180"/>
            <a:ext cx="5279408" cy="1128068"/>
          </a:xfrm>
        </p:spPr>
        <p:txBody>
          <a:bodyPr anchor="ctr">
            <a:normAutofit/>
          </a:bodyPr>
          <a:lstStyle/>
          <a:p>
            <a:r>
              <a:rPr lang="en-US" sz="4000"/>
              <a:t>Problem statement</a:t>
            </a:r>
          </a:p>
        </p:txBody>
      </p:sp>
      <p:grpSp>
        <p:nvGrpSpPr>
          <p:cNvPr id="1035" name="Group 103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036" name="Rectangle 103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39" name="Rectangle 103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608F134-D132-9549-7579-98E4751AA264}"/>
              </a:ext>
            </a:extLst>
          </p:cNvPr>
          <p:cNvSpPr>
            <a:spLocks noGrp="1"/>
          </p:cNvSpPr>
          <p:nvPr>
            <p:ph idx="1"/>
          </p:nvPr>
        </p:nvSpPr>
        <p:spPr>
          <a:xfrm>
            <a:off x="590719" y="2330505"/>
            <a:ext cx="5278066" cy="3979585"/>
          </a:xfrm>
        </p:spPr>
        <p:txBody>
          <a:bodyPr anchor="ctr">
            <a:normAutofit/>
          </a:bodyPr>
          <a:lstStyle/>
          <a:p>
            <a:pPr marL="0" indent="0">
              <a:buNone/>
            </a:pPr>
            <a:r>
              <a:rPr lang="en-US" sz="2000"/>
              <a:t>Determine how patient demographics, clinical characteristics, and care processes affect ICU outcomes such as length of stay and mortality.</a:t>
            </a:r>
          </a:p>
        </p:txBody>
      </p:sp>
      <p:sp>
        <p:nvSpPr>
          <p:cNvPr id="1041" name="Rectangle 1040">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Rectangle 104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22247D27-4A45-2526-78F9-744782811D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4" b="10507"/>
          <a:stretch>
            <a:fillRect/>
          </a:stretch>
        </p:blipFill>
        <p:spPr bwMode="auto">
          <a:xfrm>
            <a:off x="7083423" y="581892"/>
            <a:ext cx="4397433" cy="2518756"/>
          </a:xfrm>
          <a:prstGeom prst="rect">
            <a:avLst/>
          </a:prstGeom>
          <a:noFill/>
          <a:extLst>
            <a:ext uri="{909E8E84-426E-40DD-AFC4-6F175D3DCCD1}">
              <a14:hiddenFill xmlns:a14="http://schemas.microsoft.com/office/drawing/2010/main">
                <a:solidFill>
                  <a:srgbClr val="FFFFFF"/>
                </a:solidFill>
              </a14:hiddenFill>
            </a:ext>
          </a:extLst>
        </p:spPr>
      </p:pic>
      <p:sp>
        <p:nvSpPr>
          <p:cNvPr id="1045" name="Rectangle 1044">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a:extLst>
              <a:ext uri="{FF2B5EF4-FFF2-40B4-BE49-F238E27FC236}">
                <a16:creationId xmlns:a16="http://schemas.microsoft.com/office/drawing/2014/main" id="{0E4D4C9D-21A2-1FA0-4B49-6DAD7B2C19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1850" r="1" b="1657"/>
          <a:stretch>
            <a:fillRect/>
          </a:stretch>
        </p:blipFill>
        <p:spPr bwMode="auto">
          <a:xfrm>
            <a:off x="7083423" y="3707894"/>
            <a:ext cx="4395569" cy="2518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691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91" name="Rectangle 309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C11667-CD25-7D30-411E-C943A5453EE1}"/>
              </a:ext>
            </a:extLst>
          </p:cNvPr>
          <p:cNvSpPr>
            <a:spLocks noGrp="1"/>
          </p:cNvSpPr>
          <p:nvPr>
            <p:ph type="title"/>
          </p:nvPr>
        </p:nvSpPr>
        <p:spPr>
          <a:xfrm>
            <a:off x="645064" y="525982"/>
            <a:ext cx="4282983" cy="1200361"/>
          </a:xfrm>
        </p:spPr>
        <p:txBody>
          <a:bodyPr anchor="b">
            <a:normAutofit/>
          </a:bodyPr>
          <a:lstStyle/>
          <a:p>
            <a:r>
              <a:rPr lang="en-US" sz="3600"/>
              <a:t>Approach</a:t>
            </a:r>
          </a:p>
        </p:txBody>
      </p:sp>
      <p:sp>
        <p:nvSpPr>
          <p:cNvPr id="3092" name="Rectangle 309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C36D590-4215-4D61-B86E-A6BEC15728FD}"/>
              </a:ext>
            </a:extLst>
          </p:cNvPr>
          <p:cNvSpPr>
            <a:spLocks noGrp="1"/>
          </p:cNvSpPr>
          <p:nvPr>
            <p:ph idx="1"/>
          </p:nvPr>
        </p:nvSpPr>
        <p:spPr>
          <a:xfrm>
            <a:off x="645066" y="2031101"/>
            <a:ext cx="4282984" cy="3511943"/>
          </a:xfrm>
        </p:spPr>
        <p:txBody>
          <a:bodyPr anchor="ctr">
            <a:normAutofit/>
          </a:bodyPr>
          <a:lstStyle/>
          <a:p>
            <a:r>
              <a:rPr lang="en-US" sz="1800" dirty="0"/>
              <a:t>Exploratory data analysis</a:t>
            </a:r>
          </a:p>
          <a:p>
            <a:r>
              <a:rPr lang="en-US" sz="1800" dirty="0"/>
              <a:t>Regression and classification</a:t>
            </a:r>
          </a:p>
          <a:p>
            <a:r>
              <a:rPr lang="en-US" sz="1800" dirty="0"/>
              <a:t>95% confidence level</a:t>
            </a:r>
          </a:p>
          <a:p>
            <a:r>
              <a:rPr lang="en-US" sz="1800" dirty="0"/>
              <a:t>P &lt; 0.05</a:t>
            </a:r>
          </a:p>
        </p:txBody>
      </p:sp>
      <p:sp>
        <p:nvSpPr>
          <p:cNvPr id="3093" name="Rectangle 309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4" name="Rectangle 3093">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5" name="Rectangle 309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Confidence Intervals and how to find them | by Ibtesam Ahmed | Medium">
            <a:extLst>
              <a:ext uri="{FF2B5EF4-FFF2-40B4-BE49-F238E27FC236}">
                <a16:creationId xmlns:a16="http://schemas.microsoft.com/office/drawing/2014/main" id="{7363A1B8-BDB8-9F80-EFAD-1D39C359303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87738" y="1849280"/>
            <a:ext cx="5628018" cy="2926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6705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1F1430-B860-0D45-21BD-E3692BC769EB}"/>
              </a:ext>
            </a:extLst>
          </p:cNvPr>
          <p:cNvSpPr>
            <a:spLocks noGrp="1"/>
          </p:cNvSpPr>
          <p:nvPr>
            <p:ph type="title"/>
          </p:nvPr>
        </p:nvSpPr>
        <p:spPr>
          <a:xfrm>
            <a:off x="589560" y="856180"/>
            <a:ext cx="5279408" cy="1128068"/>
          </a:xfrm>
        </p:spPr>
        <p:txBody>
          <a:bodyPr anchor="ctr">
            <a:normAutofit/>
          </a:bodyPr>
          <a:lstStyle/>
          <a:p>
            <a:r>
              <a:rPr lang="en-US" sz="2500"/>
              <a:t>Key Findings and Recommendations</a:t>
            </a:r>
            <a:br>
              <a:rPr lang="en-US" sz="2500" b="0">
                <a:effectLst/>
              </a:rPr>
            </a:br>
            <a:br>
              <a:rPr lang="en-US" sz="2500"/>
            </a:br>
            <a:endParaRPr lang="en-US" sz="2500"/>
          </a:p>
        </p:txBody>
      </p:sp>
      <p:grpSp>
        <p:nvGrpSpPr>
          <p:cNvPr id="2059" name="Group 2058">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060" name="Rectangle 205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63" name="Rectangle 2062">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81CBE58-C989-8F63-8F39-1C976130F17A}"/>
              </a:ext>
            </a:extLst>
          </p:cNvPr>
          <p:cNvSpPr>
            <a:spLocks noGrp="1"/>
          </p:cNvSpPr>
          <p:nvPr>
            <p:ph idx="1"/>
          </p:nvPr>
        </p:nvSpPr>
        <p:spPr>
          <a:xfrm>
            <a:off x="590719" y="2330505"/>
            <a:ext cx="5278066" cy="3979585"/>
          </a:xfrm>
        </p:spPr>
        <p:txBody>
          <a:bodyPr anchor="ctr">
            <a:normAutofit/>
          </a:bodyPr>
          <a:lstStyle/>
          <a:p>
            <a:pPr fontAlgn="base"/>
            <a:r>
              <a:rPr lang="en-US" sz="2000"/>
              <a:t>Key variables</a:t>
            </a:r>
          </a:p>
          <a:p>
            <a:pPr lvl="1" fontAlgn="base"/>
            <a:r>
              <a:rPr lang="en-US" sz="2000"/>
              <a:t>Number of drugs administered</a:t>
            </a:r>
          </a:p>
          <a:p>
            <a:pPr lvl="2" fontAlgn="base"/>
            <a:r>
              <a:rPr lang="en-US" dirty="0"/>
              <a:t>Affects both LOS and Mortality</a:t>
            </a:r>
          </a:p>
          <a:p>
            <a:pPr lvl="1" fontAlgn="base"/>
            <a:r>
              <a:rPr lang="en-US" sz="2000"/>
              <a:t>Patients age</a:t>
            </a:r>
          </a:p>
          <a:p>
            <a:pPr lvl="2" fontAlgn="base"/>
            <a:r>
              <a:rPr lang="en-US" dirty="0"/>
              <a:t>Affects Mortality</a:t>
            </a:r>
          </a:p>
          <a:p>
            <a:pPr fontAlgn="base"/>
            <a:r>
              <a:rPr lang="en-US" sz="2000"/>
              <a:t>Recommendations</a:t>
            </a:r>
          </a:p>
          <a:p>
            <a:pPr lvl="1" fontAlgn="base"/>
            <a:r>
              <a:rPr lang="en-US" sz="2000"/>
              <a:t>Age-based mortality risk wristbands</a:t>
            </a:r>
          </a:p>
          <a:p>
            <a:pPr lvl="1" fontAlgn="base"/>
            <a:r>
              <a:rPr lang="en-US" sz="2000"/>
              <a:t>Medication Review and recommendation system</a:t>
            </a:r>
          </a:p>
          <a:p>
            <a:endParaRPr lang="en-US" sz="2000"/>
          </a:p>
        </p:txBody>
      </p:sp>
      <p:sp>
        <p:nvSpPr>
          <p:cNvPr id="2065" name="Rectangle 2064">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7" name="Rectangle 206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a:extLst>
              <a:ext uri="{FF2B5EF4-FFF2-40B4-BE49-F238E27FC236}">
                <a16:creationId xmlns:a16="http://schemas.microsoft.com/office/drawing/2014/main" id="{5D8B54E5-8599-EB1F-7F5E-C89D6668335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956478" y="581892"/>
            <a:ext cx="2651322" cy="2518756"/>
          </a:xfrm>
          <a:prstGeom prst="rect">
            <a:avLst/>
          </a:prstGeom>
          <a:noFill/>
          <a:extLst>
            <a:ext uri="{909E8E84-426E-40DD-AFC4-6F175D3DCCD1}">
              <a14:hiddenFill xmlns:a14="http://schemas.microsoft.com/office/drawing/2010/main">
                <a:solidFill>
                  <a:srgbClr val="FFFFFF"/>
                </a:solidFill>
              </a14:hiddenFill>
            </a:ext>
          </a:extLst>
        </p:spPr>
      </p:pic>
      <p:sp>
        <p:nvSpPr>
          <p:cNvPr id="2069" name="Rectangle 2068">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CF7EC2A2-D7D1-059E-B888-0FBEC32EC584}"/>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021829" y="3707894"/>
            <a:ext cx="2518756" cy="2518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10285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571</Words>
  <Application>Microsoft Office PowerPoint</Application>
  <PresentationFormat>Widescreen</PresentationFormat>
  <Paragraphs>31</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Problem statement</vt:lpstr>
      <vt:lpstr>Approach</vt:lpstr>
      <vt:lpstr>Key Findings and Recommendations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Taylen Inthisane</dc:creator>
  <cp:lastModifiedBy>Taylen Inthisane</cp:lastModifiedBy>
  <cp:revision>1</cp:revision>
  <dcterms:created xsi:type="dcterms:W3CDTF">2025-11-30T23:49:39Z</dcterms:created>
  <dcterms:modified xsi:type="dcterms:W3CDTF">2025-12-02T00:42:53Z</dcterms:modified>
</cp:coreProperties>
</file>